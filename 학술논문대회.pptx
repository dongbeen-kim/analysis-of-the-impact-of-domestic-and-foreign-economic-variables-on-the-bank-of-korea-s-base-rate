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3" r:id="rId3"/>
    <p:sldId id="265" r:id="rId4"/>
    <p:sldId id="259" r:id="rId5"/>
    <p:sldId id="262" r:id="rId6"/>
    <p:sldId id="266" r:id="rId7"/>
    <p:sldId id="269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빈 김" userId="469b85cf121844b2" providerId="LiveId" clId="{36A1646A-B917-4147-AF17-8539B9CA7C05}"/>
    <pc:docChg chg="custSel modSld">
      <pc:chgData name="동빈 김" userId="469b85cf121844b2" providerId="LiveId" clId="{36A1646A-B917-4147-AF17-8539B9CA7C05}" dt="2026-02-26T14:18:19.073" v="7" actId="1076"/>
      <pc:docMkLst>
        <pc:docMk/>
      </pc:docMkLst>
      <pc:sldChg chg="delSp modSp mod">
        <pc:chgData name="동빈 김" userId="469b85cf121844b2" providerId="LiveId" clId="{36A1646A-B917-4147-AF17-8539B9CA7C05}" dt="2026-02-26T14:18:19.073" v="7" actId="1076"/>
        <pc:sldMkLst>
          <pc:docMk/>
          <pc:sldMk cId="0" sldId="257"/>
        </pc:sldMkLst>
        <pc:spChg chg="del">
          <ac:chgData name="동빈 김" userId="469b85cf121844b2" providerId="LiveId" clId="{36A1646A-B917-4147-AF17-8539B9CA7C05}" dt="2026-02-26T14:18:10.874" v="0" actId="478"/>
          <ac:spMkLst>
            <pc:docMk/>
            <pc:sldMk cId="0" sldId="257"/>
            <ac:spMk id="4" creationId="{32537ACF-87C7-0B95-94E2-E1C7E1FFA924}"/>
          </ac:spMkLst>
        </pc:spChg>
        <pc:spChg chg="mod">
          <ac:chgData name="동빈 김" userId="469b85cf121844b2" providerId="LiveId" clId="{36A1646A-B917-4147-AF17-8539B9CA7C05}" dt="2026-02-26T14:18:19.073" v="7" actId="1076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14D2B-46E1-4E76-8F99-8F40A800B17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F51A0-1114-4343-B696-C0A538638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65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F51A0-1114-4343-B696-C0A538638FD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701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F51A0-1114-4343-B696-C0A538638FD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253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FD1F-ADF9-FF81-DB93-C9AFF090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45AA45-0045-A753-7A72-BD5B3A9E5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8FFCB0-443E-1280-2F45-5367AA5DA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0D17E-8571-0DEB-3D0E-C72AC1786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F51A0-1114-4343-B696-C0A538638FD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98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C3485-34FE-15BF-D5C8-5587BA930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FC56CB-8FFA-A3CC-56F4-D329B23D7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158C51-299D-3C3F-CFB8-511E1957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B6B6D6-4ED8-4B99-E201-3139C079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4C99E7-F19E-253E-03D8-115CDEF9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69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A5E2-0496-3D47-43F7-06C7B9B1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BEFB8-AF95-6908-B3F8-27A7642B5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FDF58-AE49-F912-82AD-4BA639D9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E7EDA-23E8-DFC9-C07C-E1DEDFB1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4C9538-9464-982C-3D81-81426155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20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89B3C-95FE-DDC0-89A8-53D1AE4B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7F635-48B0-607B-30BC-854E1DEFC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987248-C350-E337-A017-0992C144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6FD9E-0B67-BF36-1B58-875AE656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A7763-2D73-D822-3903-4985ECF5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37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C31F6-AC36-D8E0-4EFE-D0388A22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38CBC-BC7D-03C2-052E-3DF86FD17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55325E-FF92-9329-EF5C-95CD1B2D3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F403F0-0E31-5D94-0293-8C333E9A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93051E-86C6-E167-570C-E687DB0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C1E928-86A5-B78D-A975-26C7F193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8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B939B-7716-384B-A4BE-BFD00005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234B84-47F4-8A12-6890-302F582B2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95F51-97F1-D67F-B19F-D28CE138F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6075F7-D171-9A49-B706-D8572DD1B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8E9B99-646E-E68C-C47C-8C4797310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AC1728-925E-E304-632A-A3106D49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E20C8-6039-FC00-0609-D2FAD5C3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D1C60-C1CF-E5C6-CA2C-1655C6C6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24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A3ECA-5290-7931-3D99-A609DA83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EF5E3B-A2D0-8757-509D-EAF7307E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4448B4-5ECE-A0AE-30B1-84B6140B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9FC9E-7AAA-55AA-AE1B-C17446AB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35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72E2FC-CD29-10C1-9ED1-8D8ECCBB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A57591-F709-A7A6-12D3-5EDD5932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8A9C0-A2F2-EDB6-9032-455258F2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91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09643-AAF0-73CF-5B71-F1E06CFF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80210-99A9-9A8C-8BEC-0146AF84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9698C6-F055-CA05-B7DB-A534A7307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9DDB91-D27C-BAEB-36FB-D031C936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269EA-F7BD-C5CC-797F-2A2004A8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6B6764-F97F-55C1-E469-855B397F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6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8EDE2-543B-CF1D-C66E-A7061E6E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852915-ECA5-232C-450E-4C12C7F34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EDB11-4592-CDE3-4501-104588468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265509-9CE4-619A-E3A3-9D99D6C0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32C385-293C-93AC-AEEF-8A670F5C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8D284D-21F5-1242-8AE8-33F61FC6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66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F0F21-D52F-50A1-3F47-5CB48E3A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754853-1CD8-AB8C-C8B4-5CBC3C6F9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52EAF7-03F2-2A49-4C91-D81A79F8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6BA99-E7A6-1595-F13C-93427C06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5A5D4-0589-0EAA-5A24-59B46F53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1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2EB1C1-8A7F-FC80-9FF6-D4DE0F4FA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A35D0D-4A3D-2C47-88F7-A47A1DD8D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E9344-BAF2-7EB2-053A-7BAC0292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A8207-4075-319B-C1EF-28E6D9EF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928EA4-F957-83A7-003D-81426319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1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3E0CC3-B1A8-EA12-5E2A-9390C0ED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37DCA0-A05B-89D9-8661-4BEBE2BD5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8BB655-B0C0-4EB3-A835-FA52DA0C1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A11C0-235A-44C4-A38F-BB6E5F0E68B4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32C2D2-1A89-EEEE-E0EB-CD4A9716A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E3B13-2E5F-7FB4-546A-D61C88AD5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8CB77-73DE-48D9-9615-DC152A23B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6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03" y="1543364"/>
            <a:ext cx="8751794" cy="1120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03" y="5129246"/>
            <a:ext cx="8751794" cy="1120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20103" y="1610599"/>
            <a:ext cx="8908676" cy="335055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기준금리에 영향을 미치는 </a:t>
            </a:r>
            <a:endParaRPr lang="en-US" altLang="ko-KR" sz="60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60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국내외 요인 분석</a:t>
            </a:r>
            <a:endParaRPr lang="en-US" sz="600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965303" y="5247401"/>
            <a:ext cx="177644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4500" b="1" dirty="0">
                <a:ea typeface="Noto Sans KR" panose="020B0200000000000000" pitchFamily="50" charset="-127"/>
              </a:rPr>
              <a:t>김동빈</a:t>
            </a:r>
            <a:endParaRPr lang="ko-KR" alt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97467" y="872067"/>
            <a:ext cx="29718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 dirty="0">
                <a:solidFill>
                  <a:srgbClr val="323232"/>
                </a:solidFill>
                <a:ea typeface="Pretendard SemiBold"/>
              </a:rPr>
              <a:t>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 dirty="0">
                <a:solidFill>
                  <a:srgbClr val="787878"/>
                </a:solidFill>
                <a:latin typeface="Pretendard Medium"/>
              </a:rPr>
              <a:t>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2667" y="2496064"/>
            <a:ext cx="728133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3" y="2123531"/>
            <a:ext cx="160867" cy="160867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17600" y="2301333"/>
            <a:ext cx="3674534" cy="440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000" b="1" dirty="0">
                <a:latin typeface="+mn-ea"/>
              </a:rPr>
              <a:t>집값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트럼프에 발 묶인 한은</a:t>
            </a:r>
            <a:r>
              <a:rPr lang="en-US" altLang="ko-KR" sz="2000" b="1" dirty="0">
                <a:latin typeface="+mn-ea"/>
              </a:rPr>
              <a:t>…  </a:t>
            </a:r>
            <a:r>
              <a:rPr lang="ko-KR" altLang="en-US" sz="2000" b="1" dirty="0" err="1">
                <a:latin typeface="+mn-ea"/>
              </a:rPr>
              <a:t>금통위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금리 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2.50% </a:t>
            </a: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동결</a:t>
            </a:r>
            <a:endParaRPr lang="en-US" altLang="ko-KR" sz="2000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2667" y="3762001"/>
            <a:ext cx="728133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3" y="3327682"/>
            <a:ext cx="160867" cy="16086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112796" y="4447969"/>
            <a:ext cx="5406876" cy="1633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b="1" dirty="0">
                <a:solidFill>
                  <a:srgbClr val="002060"/>
                </a:solidFill>
                <a:latin typeface="Pretendard Bold" panose="020B0600000101010101" charset="-127"/>
                <a:ea typeface="Pretendard Bold" panose="020B0600000101010101" charset="-127"/>
              </a:rPr>
              <a:t>동결 </a:t>
            </a:r>
            <a:r>
              <a:rPr lang="ko-KR" altLang="en-US" b="1" dirty="0">
                <a:latin typeface="Pretendard Bold" panose="020B0600000101010101" charset="-127"/>
                <a:ea typeface="Pretendard Bold" panose="020B0600000101010101" charset="-127"/>
              </a:rPr>
              <a:t>배경</a:t>
            </a:r>
            <a:endParaRPr lang="en-US" altLang="ko-KR" b="1" dirty="0"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1.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미국 트럼프 전 대통령의 보호무역 정책 우려</a:t>
            </a:r>
          </a:p>
          <a:p>
            <a:pPr lvl="0" algn="l">
              <a:lnSpc>
                <a:spcPct val="150000"/>
              </a:lnSpc>
            </a:pP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2.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부동산 과열 </a:t>
            </a: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아파트값 상승</a:t>
            </a: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가계 대출 급증</a:t>
            </a: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</a:p>
          <a:p>
            <a:pPr lvl="0" algn="l">
              <a:lnSpc>
                <a:spcPct val="150000"/>
              </a:lnSpc>
            </a:pP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3.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한</a:t>
            </a:r>
            <a:r>
              <a:rPr lang="en-US" altLang="ko-KR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·</a:t>
            </a: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미 금리 역전 시 외국인 자금 이탈 및 환율  </a:t>
            </a:r>
            <a:endParaRPr lang="en-US" altLang="ko-KR" b="1" dirty="0">
              <a:solidFill>
                <a:srgbClr val="323232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ko-KR" altLang="en-US" b="1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   불안 가능성</a:t>
            </a:r>
          </a:p>
          <a:p>
            <a:pPr lvl="0" algn="l">
              <a:lnSpc>
                <a:spcPct val="116199"/>
              </a:lnSpc>
            </a:pPr>
            <a:endParaRPr lang="ko-KR" altLang="en-US" sz="2400" dirty="0">
              <a:solidFill>
                <a:srgbClr val="323232"/>
              </a:solidFill>
              <a:ea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17600" y="4707467"/>
            <a:ext cx="4715933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1200" dirty="0">
              <a:solidFill>
                <a:srgbClr val="323232"/>
              </a:solidFill>
              <a:latin typeface="+mn-ea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2667" y="4963928"/>
            <a:ext cx="728133" cy="25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3630BC-EEDE-40F2-F657-42DBB26D08AD}"/>
              </a:ext>
            </a:extLst>
          </p:cNvPr>
          <p:cNvSpPr txBox="1"/>
          <p:nvPr/>
        </p:nvSpPr>
        <p:spPr>
          <a:xfrm>
            <a:off x="897467" y="6614924"/>
            <a:ext cx="6094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50" dirty="0"/>
              <a:t>https://www.newsis.com/view/NISX20250709_0003245764</a:t>
            </a:r>
            <a:endParaRPr lang="ko-KR" altLang="en-US" sz="1050" dirty="0"/>
          </a:p>
        </p:txBody>
      </p:sp>
      <p:pic>
        <p:nvPicPr>
          <p:cNvPr id="26" name="내용 개체 틀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F8B964-2C3A-9CB3-CF12-535AC68D6C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86" y="628758"/>
            <a:ext cx="5288918" cy="2817060"/>
          </a:xfrm>
          <a:prstGeom prst="rect">
            <a:avLst/>
          </a:prstGeom>
        </p:spPr>
      </p:pic>
      <p:pic>
        <p:nvPicPr>
          <p:cNvPr id="27" name="그림 2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38107A-1125-BF1D-E03B-4DECEF0B05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85" y="3648700"/>
            <a:ext cx="5288919" cy="281706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8BE381-ADAD-292B-0FA3-BC998975E696}"/>
              </a:ext>
            </a:extLst>
          </p:cNvPr>
          <p:cNvSpPr txBox="1"/>
          <p:nvPr/>
        </p:nvSpPr>
        <p:spPr>
          <a:xfrm>
            <a:off x="8756365" y="6629455"/>
            <a:ext cx="28175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Resource: FRED(https://fred.stlouisfed.org/)</a:t>
            </a:r>
            <a:endParaRPr lang="ko-KR" altLang="en-US" sz="1050" dirty="0"/>
          </a:p>
        </p:txBody>
      </p:sp>
      <p:pic>
        <p:nvPicPr>
          <p:cNvPr id="20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3429" y="4094233"/>
            <a:ext cx="728133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5E3FF-3B77-7B89-56E8-6A13A1A0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DD7B49A-6230-3275-596E-0A171C6C3F27}"/>
              </a:ext>
            </a:extLst>
          </p:cNvPr>
          <p:cNvSpPr txBox="1"/>
          <p:nvPr/>
        </p:nvSpPr>
        <p:spPr>
          <a:xfrm>
            <a:off x="897466" y="872067"/>
            <a:ext cx="3513667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 dirty="0">
                <a:solidFill>
                  <a:srgbClr val="323232"/>
                </a:solidFill>
                <a:ea typeface="Pretendard SemiBold"/>
              </a:rPr>
              <a:t>파생되는 문제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C03CC6-914D-05CE-8A72-E0383F09ACEF}"/>
              </a:ext>
            </a:extLst>
          </p:cNvPr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 dirty="0">
                <a:solidFill>
                  <a:srgbClr val="787878"/>
                </a:solidFill>
                <a:latin typeface="Pretendard Medium"/>
              </a:rPr>
              <a:t>2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925474B-EE35-C6E4-5EF8-515E09031D37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9" name="Picture 9">
            <a:extLst>
              <a:ext uri="{FF2B5EF4-FFF2-40B4-BE49-F238E27FC236}">
                <a16:creationId xmlns:a16="http://schemas.microsoft.com/office/drawing/2014/main" id="{06791603-C0F9-14D6-CA94-285D6B895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3211" y="2496064"/>
            <a:ext cx="728133" cy="25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745A4A0-1924-570A-EB59-1FE4844D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77" y="2123531"/>
            <a:ext cx="160867" cy="160867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B992893B-16B0-47DF-4B59-EEEE224C0E5B}"/>
              </a:ext>
            </a:extLst>
          </p:cNvPr>
          <p:cNvSpPr txBox="1"/>
          <p:nvPr/>
        </p:nvSpPr>
        <p:spPr>
          <a:xfrm>
            <a:off x="897466" y="3889888"/>
            <a:ext cx="5937230" cy="4015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정책 독립성 약화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국내 경기침체에도 외부금리를                  </a:t>
            </a:r>
            <a:endParaRPr lang="en-US" altLang="ko-KR" sz="1600" b="1" dirty="0">
              <a:latin typeface="+mn-ea"/>
            </a:endParaRPr>
          </a:p>
          <a:p>
            <a:r>
              <a:rPr lang="ko-KR" altLang="en-US" sz="1600" b="1" dirty="0">
                <a:latin typeface="+mn-ea"/>
              </a:rPr>
              <a:t>                        따라야 할 가능성</a:t>
            </a:r>
            <a:endParaRPr lang="en-US" altLang="ko-KR" sz="16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600" b="1" dirty="0">
              <a:latin typeface="+mn-ea"/>
            </a:endParaRPr>
          </a:p>
          <a:p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금융 불안 위험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외환 유출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환율 급등 등 </a:t>
            </a:r>
            <a:endParaRPr lang="en-US" altLang="ko-KR" sz="1600" b="1" dirty="0">
              <a:latin typeface="+mn-ea"/>
            </a:endParaRPr>
          </a:p>
          <a:p>
            <a:r>
              <a:rPr lang="en-US" altLang="ko-KR" sz="1600" b="1" dirty="0">
                <a:latin typeface="+mn-ea"/>
              </a:rPr>
              <a:t>                      </a:t>
            </a:r>
            <a:r>
              <a:rPr lang="ko-KR" altLang="en-US" sz="1600" b="1" dirty="0">
                <a:latin typeface="+mn-ea"/>
              </a:rPr>
              <a:t>시스템 리스크 증가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b="1" dirty="0">
              <a:latin typeface="+mn-ea"/>
            </a:endParaRPr>
          </a:p>
          <a:p>
            <a:r>
              <a:rPr lang="ko-KR" altLang="en-US" sz="1600" b="1" dirty="0">
                <a:solidFill>
                  <a:schemeClr val="tx2"/>
                </a:solidFill>
                <a:latin typeface="+mn-ea"/>
              </a:rPr>
              <a:t>물가안정 실패 가능성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중앙은행의 신뢰성 약화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400" b="1" dirty="0">
              <a:latin typeface="+mn-ea"/>
            </a:endParaRPr>
          </a:p>
          <a:p>
            <a:r>
              <a:rPr lang="ko-KR" altLang="en-US" sz="1600" b="1" dirty="0">
                <a:solidFill>
                  <a:schemeClr val="tx2"/>
                </a:solidFill>
                <a:latin typeface="+mn-ea"/>
              </a:rPr>
              <a:t>정책 효과 시차 발생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비효율적 경기 대응</a:t>
            </a:r>
            <a:endParaRPr lang="en-US" altLang="ko-KR" sz="1600" b="1" dirty="0">
              <a:latin typeface="+mn-ea"/>
            </a:endParaRPr>
          </a:p>
          <a:p>
            <a:endParaRPr lang="ko-KR" altLang="en-US" sz="1600" b="1" dirty="0">
              <a:latin typeface="+mn-ea"/>
            </a:endParaRPr>
          </a:p>
          <a:p>
            <a:r>
              <a:rPr lang="ko-KR" altLang="en-US" sz="1600" b="1" dirty="0">
                <a:solidFill>
                  <a:schemeClr val="tx2"/>
                </a:solidFill>
                <a:latin typeface="+mn-ea"/>
              </a:rPr>
              <a:t>정책 신뢰성 저하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시장 예측력 약화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경제 활동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위축</a:t>
            </a:r>
            <a:endParaRPr lang="en-US" altLang="ko-KR" sz="1600" b="1" dirty="0">
              <a:latin typeface="+mn-ea"/>
            </a:endParaRPr>
          </a:p>
          <a:p>
            <a:endParaRPr lang="ko-KR" altLang="en-US" sz="1600" b="1" dirty="0">
              <a:latin typeface="+mn-ea"/>
            </a:endParaRPr>
          </a:p>
          <a:p>
            <a:r>
              <a:rPr lang="ko-KR" altLang="en-US" sz="1600" b="1" dirty="0">
                <a:solidFill>
                  <a:schemeClr val="tx2"/>
                </a:solidFill>
                <a:latin typeface="+mn-ea"/>
              </a:rPr>
              <a:t>환율 방어력 약화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외화 유동성 위기 가능성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E35C86-A559-80C5-0E88-2FED0A577C77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4" name="Picture 14">
            <a:extLst>
              <a:ext uri="{FF2B5EF4-FFF2-40B4-BE49-F238E27FC236}">
                <a16:creationId xmlns:a16="http://schemas.microsoft.com/office/drawing/2014/main" id="{11DBA9B5-7B0A-9243-3BE8-6D29D4D0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3211" y="3275122"/>
            <a:ext cx="728133" cy="254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BD485BFD-FAF9-0C45-083A-FEBA6BB08C73}"/>
              </a:ext>
            </a:extLst>
          </p:cNvPr>
          <p:cNvSpPr txBox="1"/>
          <p:nvPr/>
        </p:nvSpPr>
        <p:spPr>
          <a:xfrm>
            <a:off x="1112796" y="4145348"/>
            <a:ext cx="4148667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ko-KR" altLang="en-US" sz="2000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8829D53-4536-231C-97CF-53ACD82A20AB}"/>
              </a:ext>
            </a:extLst>
          </p:cNvPr>
          <p:cNvSpPr txBox="1"/>
          <p:nvPr/>
        </p:nvSpPr>
        <p:spPr>
          <a:xfrm>
            <a:off x="1117600" y="4707467"/>
            <a:ext cx="4715933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1200" dirty="0">
              <a:solidFill>
                <a:srgbClr val="323232"/>
              </a:solidFill>
              <a:latin typeface="Pretendard Regular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3256EF16-3B16-D5F5-1882-1F2941EF7C33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4" name="Picture 9">
            <a:extLst>
              <a:ext uri="{FF2B5EF4-FFF2-40B4-BE49-F238E27FC236}">
                <a16:creationId xmlns:a16="http://schemas.microsoft.com/office/drawing/2014/main" id="{12D8D50C-1D4D-5416-1E83-3C42903B5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4971" y="4115715"/>
            <a:ext cx="728133" cy="25400"/>
          </a:xfrm>
          <a:prstGeom prst="rect">
            <a:avLst/>
          </a:prstGeom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BF3A0EBB-FC5C-08FC-3457-E0E8FE29B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4971" y="4915180"/>
            <a:ext cx="728133" cy="254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CC43EDB-4DBA-568A-7808-E44369EE7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865" y="2245845"/>
            <a:ext cx="6177135" cy="3603646"/>
          </a:xfrm>
          <a:prstGeom prst="rect">
            <a:avLst/>
          </a:prstGeom>
        </p:spPr>
      </p:pic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930907B6-EF82-55C2-6E8A-CB6A89971DD5}"/>
              </a:ext>
            </a:extLst>
          </p:cNvPr>
          <p:cNvSpPr/>
          <p:nvPr/>
        </p:nvSpPr>
        <p:spPr>
          <a:xfrm>
            <a:off x="7685903" y="2020334"/>
            <a:ext cx="196950" cy="45102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A95F1-D447-8D61-736F-B71BD651A535}"/>
              </a:ext>
            </a:extLst>
          </p:cNvPr>
          <p:cNvSpPr txBox="1"/>
          <p:nvPr/>
        </p:nvSpPr>
        <p:spPr>
          <a:xfrm>
            <a:off x="8968260" y="6612466"/>
            <a:ext cx="29697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Resource: FRED(https://fred.stlouisfed.org/)</a:t>
            </a:r>
            <a:endParaRPr lang="ko-KR" alt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ACAE6-9BFB-554B-B759-18C3B369F5CD}"/>
              </a:ext>
            </a:extLst>
          </p:cNvPr>
          <p:cNvSpPr txBox="1"/>
          <p:nvPr/>
        </p:nvSpPr>
        <p:spPr>
          <a:xfrm>
            <a:off x="670467" y="6466272"/>
            <a:ext cx="5669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fkGroteskNeue"/>
              </a:rPr>
              <a:t>Athanasopoulos, Angelos, </a:t>
            </a:r>
            <a:r>
              <a:rPr lang="en-US" altLang="ko-KR" sz="1000" b="0" i="0" dirty="0" err="1">
                <a:effectLst/>
                <a:latin typeface="fkGroteskNeue"/>
              </a:rPr>
              <a:t>Masciandaro</a:t>
            </a:r>
            <a:r>
              <a:rPr lang="en-US" altLang="ko-KR" sz="1000" b="0" i="0" dirty="0">
                <a:effectLst/>
                <a:latin typeface="fkGroteskNeue"/>
              </a:rPr>
              <a:t>, Donato &amp; </a:t>
            </a:r>
            <a:r>
              <a:rPr lang="en-US" altLang="ko-KR" sz="1000" b="0" i="0" dirty="0" err="1">
                <a:effectLst/>
                <a:latin typeface="fkGroteskNeue"/>
              </a:rPr>
              <a:t>Romelli</a:t>
            </a:r>
            <a:r>
              <a:rPr lang="en-US" altLang="ko-KR" sz="1000" b="0" i="0" dirty="0">
                <a:effectLst/>
                <a:latin typeface="fkGroteskNeue"/>
              </a:rPr>
              <a:t>, Davide. “Long Run Inflation: Persistence and Central Bank Independence.” BAFFI CAREFIN Centre Research Papers No. 217, 2025.</a:t>
            </a:r>
            <a:endParaRPr lang="ko-KR" altLang="en-US" sz="1000" dirty="0"/>
          </a:p>
        </p:txBody>
      </p:sp>
      <p:pic>
        <p:nvPicPr>
          <p:cNvPr id="24" name="Picture 14">
            <a:extLst>
              <a:ext uri="{FF2B5EF4-FFF2-40B4-BE49-F238E27FC236}">
                <a16:creationId xmlns:a16="http://schemas.microsoft.com/office/drawing/2014/main" id="{BF3A0EBB-FC5C-08FC-3457-E0E8FE29B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5866" y="5342281"/>
            <a:ext cx="728133" cy="2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1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97467" y="872067"/>
            <a:ext cx="29718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 dirty="0">
                <a:solidFill>
                  <a:srgbClr val="323232"/>
                </a:solidFill>
                <a:ea typeface="Pretendard SemiBold"/>
              </a:rPr>
              <a:t>연구 계획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>
                <a:solidFill>
                  <a:srgbClr val="787878"/>
                </a:solidFill>
                <a:latin typeface="Pretendard Medium"/>
              </a:rPr>
              <a:t>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7" y="1945275"/>
            <a:ext cx="50800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67" y="1945275"/>
            <a:ext cx="67733" cy="1270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34534" y="2479013"/>
            <a:ext cx="4487334" cy="4233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400" b="1" dirty="0">
                <a:latin typeface="+mn-ea"/>
              </a:rPr>
              <a:t>한국은행 기준금리 결정 과정에서 국내외 변수의 상대적 영향력을 실증적으로 분석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4534" y="2078710"/>
            <a:ext cx="2700867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1" dirty="0">
                <a:solidFill>
                  <a:srgbClr val="323232"/>
                </a:solidFill>
                <a:latin typeface="+mn-ea"/>
              </a:rPr>
              <a:t>1. </a:t>
            </a:r>
            <a:r>
              <a:rPr lang="ko-KR" altLang="en-US" sz="1600" b="1" dirty="0">
                <a:solidFill>
                  <a:srgbClr val="323232"/>
                </a:solidFill>
                <a:latin typeface="+mn-ea"/>
              </a:rPr>
              <a:t>연구 </a:t>
            </a:r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목표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7" y="3503142"/>
            <a:ext cx="5080000" cy="127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67" y="3503142"/>
            <a:ext cx="67733" cy="127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51560" y="3813699"/>
            <a:ext cx="4622800" cy="922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국가별 금리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국내 실물경제 지표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글로벌 금융 및 정책 변수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4534" y="3636577"/>
            <a:ext cx="2700867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1" dirty="0">
                <a:solidFill>
                  <a:srgbClr val="323232"/>
                </a:solidFill>
                <a:latin typeface="+mn-ea"/>
              </a:rPr>
              <a:t>2. </a:t>
            </a:r>
            <a:r>
              <a:rPr lang="ko-KR" altLang="en-US" sz="1600" b="1" dirty="0">
                <a:solidFill>
                  <a:srgbClr val="323232"/>
                </a:solidFill>
                <a:latin typeface="+mn-ea"/>
              </a:rPr>
              <a:t>수집 가능한 </a:t>
            </a:r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데이터</a:t>
            </a:r>
            <a:r>
              <a:rPr lang="ko-KR" altLang="en-US" sz="1600" b="1" dirty="0">
                <a:solidFill>
                  <a:srgbClr val="323232"/>
                </a:solidFill>
                <a:latin typeface="+mn-ea"/>
              </a:rPr>
              <a:t> 종류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7" y="5069475"/>
            <a:ext cx="5080000" cy="1270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67" y="5069475"/>
            <a:ext cx="67733" cy="127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51560" y="5686186"/>
            <a:ext cx="5266944" cy="504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 err="1">
                <a:latin typeface="+mn-ea"/>
              </a:rPr>
              <a:t>시계열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고차원</a:t>
            </a:r>
            <a:r>
              <a:rPr lang="en-US" altLang="ko-KR" sz="1400" b="1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비선형 데이터</a:t>
            </a:r>
            <a:r>
              <a:rPr lang="ko-KR" altLang="en-US" sz="1400" dirty="0">
                <a:latin typeface="+mn-ea"/>
              </a:rPr>
              <a:t>이므로 </a:t>
            </a:r>
            <a:r>
              <a:rPr lang="ko-KR" altLang="en-US" sz="1400" b="1" dirty="0">
                <a:latin typeface="+mn-ea"/>
              </a:rPr>
              <a:t>적합한 모델 선정 필요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- </a:t>
            </a:r>
            <a:r>
              <a:rPr lang="ko-KR" altLang="en-US" sz="1400" b="1" dirty="0">
                <a:latin typeface="+mn-ea"/>
              </a:rPr>
              <a:t>시기에 따라 변수별 영향력의 차이</a:t>
            </a:r>
            <a:r>
              <a:rPr lang="ko-KR" altLang="en-US" sz="1400" dirty="0">
                <a:latin typeface="+mn-ea"/>
              </a:rPr>
              <a:t>가 존재할 가능성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금리에 영향을 미치는 </a:t>
            </a:r>
            <a:r>
              <a:rPr lang="ko-KR" altLang="en-US" sz="1400" b="1" dirty="0">
                <a:latin typeface="+mn-ea"/>
              </a:rPr>
              <a:t>변수들의 종합적인 분석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필요</a:t>
            </a:r>
            <a:endParaRPr lang="en-US" altLang="ko-KR" sz="1400" b="1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4534" y="5184622"/>
            <a:ext cx="2700867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1" dirty="0">
                <a:solidFill>
                  <a:srgbClr val="323232"/>
                </a:solidFill>
                <a:latin typeface="+mn-ea"/>
              </a:rPr>
              <a:t>3. </a:t>
            </a:r>
            <a:r>
              <a:rPr lang="ko-KR" altLang="en-US" sz="1600" b="1" dirty="0">
                <a:solidFill>
                  <a:srgbClr val="323232"/>
                </a:solidFill>
                <a:latin typeface="+mn-ea"/>
              </a:rPr>
              <a:t>문제 </a:t>
            </a:r>
            <a:r>
              <a:rPr lang="ko-KR" altLang="en-US" sz="1600" b="1" dirty="0">
                <a:solidFill>
                  <a:srgbClr val="002060"/>
                </a:solidFill>
                <a:latin typeface="+mn-ea"/>
              </a:rPr>
              <a:t>특징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73106574-DFF9-6BDD-2A67-53AEC3215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681" y="2106142"/>
            <a:ext cx="3818468" cy="3810643"/>
          </a:xfrm>
          <a:prstGeom prst="rect">
            <a:avLst/>
          </a:prstGeom>
          <a:effectLst>
            <a:outerShdw blurRad="381753" dist="190500" dir="2700000">
              <a:srgbClr val="000000">
                <a:alpha val="30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9AAE165-D514-EC9F-86E1-3DA2B2D957CC}"/>
              </a:ext>
            </a:extLst>
          </p:cNvPr>
          <p:cNvSpPr txBox="1"/>
          <p:nvPr/>
        </p:nvSpPr>
        <p:spPr>
          <a:xfrm>
            <a:off x="7309022" y="2902346"/>
            <a:ext cx="377178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+mn-ea"/>
              </a:rPr>
              <a:t>4. </a:t>
            </a:r>
            <a:r>
              <a:rPr lang="ko-KR" altLang="en-US" sz="2000" b="1" dirty="0">
                <a:latin typeface="+mn-ea"/>
              </a:rPr>
              <a:t>연구</a:t>
            </a: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 활용 방안</a:t>
            </a:r>
            <a:endParaRPr lang="en-US" altLang="ko-KR" sz="2000" b="1" dirty="0">
              <a:solidFill>
                <a:srgbClr val="002060"/>
              </a:solidFill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pPr algn="ctr"/>
            <a:r>
              <a:rPr lang="ko-KR" altLang="en-US" sz="1800" b="1" dirty="0">
                <a:latin typeface="+mn-ea"/>
              </a:rPr>
              <a:t>정책적 측면</a:t>
            </a:r>
            <a:r>
              <a:rPr lang="en-US" altLang="ko-KR" sz="1800" b="1" dirty="0">
                <a:latin typeface="+mn-ea"/>
              </a:rPr>
              <a:t>: </a:t>
            </a:r>
            <a:r>
              <a:rPr lang="ko-KR" altLang="en-US" sz="1800" b="1" dirty="0">
                <a:latin typeface="+mn-ea"/>
              </a:rPr>
              <a:t>통화정책 정당성 평가</a:t>
            </a:r>
            <a:r>
              <a:rPr lang="en-US" altLang="ko-KR" sz="1800" b="1" dirty="0">
                <a:latin typeface="+mn-ea"/>
              </a:rPr>
              <a:t>, </a:t>
            </a:r>
            <a:r>
              <a:rPr lang="ko-KR" altLang="en-US" sz="1800" b="1" dirty="0">
                <a:latin typeface="+mn-ea"/>
              </a:rPr>
              <a:t>글로벌 충격 대응 전략 수립</a:t>
            </a:r>
            <a:endParaRPr lang="en-US" altLang="ko-KR" sz="1800" b="1" dirty="0">
              <a:latin typeface="+mn-ea"/>
            </a:endParaRPr>
          </a:p>
          <a:p>
            <a:pPr algn="ctr"/>
            <a:r>
              <a:rPr lang="ko-KR" altLang="en-US" sz="1800" b="1" dirty="0">
                <a:latin typeface="+mn-ea"/>
              </a:rPr>
              <a:t> </a:t>
            </a:r>
            <a:endParaRPr lang="en-US" altLang="ko-KR" sz="1800" b="1" dirty="0">
              <a:latin typeface="+mn-ea"/>
            </a:endParaRPr>
          </a:p>
          <a:p>
            <a:pPr algn="ctr"/>
            <a:r>
              <a:rPr lang="ko-KR" altLang="en-US" sz="1800" b="1" dirty="0">
                <a:latin typeface="+mn-ea"/>
              </a:rPr>
              <a:t>산업</a:t>
            </a:r>
            <a:r>
              <a:rPr lang="en-US" altLang="ko-KR" sz="1800" b="1" dirty="0">
                <a:latin typeface="+mn-ea"/>
              </a:rPr>
              <a:t>/</a:t>
            </a:r>
            <a:r>
              <a:rPr lang="ko-KR" altLang="en-US" sz="1800" b="1" dirty="0">
                <a:latin typeface="+mn-ea"/>
              </a:rPr>
              <a:t>시장</a:t>
            </a:r>
            <a:r>
              <a:rPr lang="en-US" altLang="ko-KR" sz="1800" b="1" dirty="0">
                <a:latin typeface="+mn-ea"/>
              </a:rPr>
              <a:t>: </a:t>
            </a:r>
            <a:r>
              <a:rPr lang="ko-KR" altLang="en-US" sz="1800" b="1" dirty="0">
                <a:latin typeface="+mn-ea"/>
              </a:rPr>
              <a:t>정책금리 예측 고도화</a:t>
            </a:r>
            <a:r>
              <a:rPr lang="en-US" altLang="ko-KR" sz="1800" b="1" dirty="0">
                <a:latin typeface="+mn-ea"/>
              </a:rPr>
              <a:t>, </a:t>
            </a:r>
            <a:r>
              <a:rPr lang="ko-KR" altLang="en-US" sz="1800" b="1" dirty="0">
                <a:latin typeface="+mn-ea"/>
              </a:rPr>
              <a:t>글로벌 금리 민감도 모니터링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34" y="2024904"/>
            <a:ext cx="10481733" cy="159173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97467" y="872067"/>
            <a:ext cx="3921668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>
                <a:solidFill>
                  <a:srgbClr val="323232"/>
                </a:solidFill>
                <a:ea typeface="Pretendard SemiBold"/>
              </a:rPr>
              <a:t>기존 연구 분석</a:t>
            </a:r>
            <a:endParaRPr lang="ko-KR" altLang="en-US" sz="4334" b="1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 dirty="0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33" y="4167663"/>
            <a:ext cx="5080000" cy="982133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44" y="4523263"/>
            <a:ext cx="254000" cy="254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134534" y="4531730"/>
            <a:ext cx="169333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1333">
                <a:solidFill>
                  <a:srgbClr val="FAFAFA"/>
                </a:solidFill>
                <a:latin typeface="+mn-ea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0087" y="4463995"/>
            <a:ext cx="4131733" cy="389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002060"/>
                </a:solidFill>
                <a:latin typeface="+mn-ea"/>
              </a:rPr>
              <a:t>글로벌 변수 구성의 편협성 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미국 중심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867" y="4167663"/>
            <a:ext cx="5080000" cy="982133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467" y="4523263"/>
            <a:ext cx="254000" cy="25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527800" y="4531730"/>
            <a:ext cx="169333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1333">
                <a:solidFill>
                  <a:srgbClr val="FAFAFA"/>
                </a:solidFill>
                <a:latin typeface="+mn-ea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76534" y="4565596"/>
            <a:ext cx="3940661" cy="389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002060"/>
                </a:solidFill>
                <a:latin typeface="+mn-ea"/>
              </a:rPr>
              <a:t>환율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2060"/>
                </a:solidFill>
                <a:latin typeface="+mn-ea"/>
              </a:rPr>
              <a:t>유가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2060"/>
                </a:solidFill>
                <a:latin typeface="+mn-ea"/>
              </a:rPr>
              <a:t>글로벌 불확실성 지표 등 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주요 변수 미포함</a:t>
            </a:r>
          </a:p>
          <a:p>
            <a:pPr lvl="0" algn="l">
              <a:lnSpc>
                <a:spcPct val="95449"/>
              </a:lnSpc>
            </a:pPr>
            <a:endParaRPr lang="en-US" altLang="ko-KR" sz="1200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33" y="5286864"/>
            <a:ext cx="5080000" cy="982133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5632642"/>
            <a:ext cx="254000" cy="254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34534" y="5650930"/>
            <a:ext cx="169333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1333">
                <a:solidFill>
                  <a:srgbClr val="FAFAFA"/>
                </a:solidFill>
                <a:latin typeface="+mn-ea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74800" y="5650930"/>
            <a:ext cx="4131733" cy="389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002060"/>
                </a:solidFill>
                <a:latin typeface="+mn-ea"/>
              </a:rPr>
              <a:t>비선형성과 동태성 측정의 정밀도 부족 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히스토그램 기반 </a:t>
            </a:r>
            <a:r>
              <a:rPr lang="en-US" altLang="ko-KR" b="1" dirty="0">
                <a:solidFill>
                  <a:srgbClr val="002060"/>
                </a:solidFill>
                <a:latin typeface="+mn-ea"/>
              </a:rPr>
              <a:t>TE 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사용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5286864"/>
            <a:ext cx="5080000" cy="982133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611" y="5641786"/>
            <a:ext cx="254000" cy="254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527800" y="5650930"/>
            <a:ext cx="169333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1333" dirty="0">
                <a:solidFill>
                  <a:srgbClr val="FAFAFA"/>
                </a:solidFill>
                <a:latin typeface="+mn-ea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76534" y="5715241"/>
            <a:ext cx="4131733" cy="3894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002060"/>
                </a:solidFill>
                <a:latin typeface="+mn-ea"/>
              </a:rPr>
              <a:t>분석 기간이 짧고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002060"/>
                </a:solidFill>
                <a:latin typeface="+mn-ea"/>
              </a:rPr>
              <a:t>금융위기 이전 데이터 누락 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(2012</a:t>
            </a:r>
            <a:r>
              <a:rPr lang="ko-KR" altLang="en-US" dirty="0">
                <a:solidFill>
                  <a:srgbClr val="002060"/>
                </a:solidFill>
                <a:latin typeface="+mn-ea"/>
              </a:rPr>
              <a:t>년 이후 데이터</a:t>
            </a:r>
            <a:r>
              <a:rPr lang="en-US" altLang="ko-KR" dirty="0">
                <a:solidFill>
                  <a:srgbClr val="002060"/>
                </a:solidFill>
                <a:latin typeface="+mn-ea"/>
              </a:rPr>
              <a:t>)</a:t>
            </a:r>
          </a:p>
          <a:p>
            <a:pPr lvl="0" algn="l">
              <a:lnSpc>
                <a:spcPct val="95449"/>
              </a:lnSpc>
            </a:pPr>
            <a:r>
              <a:rPr lang="en-US" sz="1200" dirty="0">
                <a:solidFill>
                  <a:srgbClr val="002060"/>
                </a:solidFill>
                <a:latin typeface="+mn-ea"/>
              </a:rPr>
              <a:t>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sp>
        <p:nvSpPr>
          <p:cNvPr id="33" name="TextBox 33"/>
          <p:cNvSpPr txBox="1"/>
          <p:nvPr/>
        </p:nvSpPr>
        <p:spPr>
          <a:xfrm>
            <a:off x="2396067" y="2236570"/>
            <a:ext cx="8678332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28611" indent="-228611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Jeon,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Byeongjo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&amp; Park,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</a:rPr>
              <a:t>Haeseon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. “Analysis on Domestic and Global Factors Affecting Korea’s Base Rate.” Journal of Industrial Economics, 2024.</a:t>
            </a:r>
          </a:p>
          <a:p>
            <a:pPr marL="228611" indent="-228611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Rey, H. “Dilemma Not Trilemma: The Global Financial Cycle and Monetary Policy Independence.” NBER Working Paper, 2018.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200" y="2634504"/>
            <a:ext cx="745067" cy="34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관련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연구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481667" y="2812304"/>
            <a:ext cx="1193800" cy="169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5C6F-620C-7D85-3110-FA3E5CAA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B8C875D-5210-4D6F-B057-125AFD9DDC14}"/>
              </a:ext>
            </a:extLst>
          </p:cNvPr>
          <p:cNvSpPr txBox="1"/>
          <p:nvPr/>
        </p:nvSpPr>
        <p:spPr>
          <a:xfrm>
            <a:off x="897467" y="872067"/>
            <a:ext cx="29718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연구 주제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34180B-F728-B8BA-173E-5C5346B198C1}"/>
              </a:ext>
            </a:extLst>
          </p:cNvPr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 dirty="0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EFCDB5A-5071-E45C-6E19-FEC747751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667" y="2113005"/>
            <a:ext cx="4766733" cy="416079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E4FDD29-9C1A-45C0-DA58-1F2881D53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13005"/>
            <a:ext cx="4766733" cy="4160795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965EF7B3-753A-A010-37A3-23DE064CF0A3}"/>
              </a:ext>
            </a:extLst>
          </p:cNvPr>
          <p:cNvSpPr txBox="1"/>
          <p:nvPr/>
        </p:nvSpPr>
        <p:spPr>
          <a:xfrm>
            <a:off x="1202266" y="2393993"/>
            <a:ext cx="3581400" cy="356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867" b="1" u="sng" dirty="0">
                <a:solidFill>
                  <a:srgbClr val="323232"/>
                </a:solidFill>
                <a:latin typeface="+mn-ea"/>
              </a:rPr>
              <a:t>기존 연구</a:t>
            </a:r>
            <a:endParaRPr lang="en-US" sz="1867" b="1" u="sng" dirty="0">
              <a:solidFill>
                <a:srgbClr val="323232"/>
              </a:solidFill>
              <a:latin typeface="+mn-ea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4879E8D-109C-F8F7-13AC-F854CE2CA7CB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1" name="Picture 11">
            <a:extLst>
              <a:ext uri="{FF2B5EF4-FFF2-40B4-BE49-F238E27FC236}">
                <a16:creationId xmlns:a16="http://schemas.microsoft.com/office/drawing/2014/main" id="{D6F81F2A-DC88-1A11-BA60-73D5E8DAF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134" y="2953639"/>
            <a:ext cx="2353733" cy="704424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8E77F7C3-8EBB-F4BB-F320-351BA9468CB5}"/>
              </a:ext>
            </a:extLst>
          </p:cNvPr>
          <p:cNvSpPr txBox="1"/>
          <p:nvPr/>
        </p:nvSpPr>
        <p:spPr>
          <a:xfrm>
            <a:off x="5071533" y="3095178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변수 추가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783FA46-6839-EDBC-102C-6C38C1761F37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4" name="Picture 14">
            <a:extLst>
              <a:ext uri="{FF2B5EF4-FFF2-40B4-BE49-F238E27FC236}">
                <a16:creationId xmlns:a16="http://schemas.microsoft.com/office/drawing/2014/main" id="{AF5C843A-7CD7-3B8F-F0BC-C20DDA73D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134" y="3690239"/>
            <a:ext cx="2353733" cy="704424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D2FC498-91D1-4744-EE34-4C9711C38309}"/>
              </a:ext>
            </a:extLst>
          </p:cNvPr>
          <p:cNvSpPr txBox="1"/>
          <p:nvPr/>
        </p:nvSpPr>
        <p:spPr>
          <a:xfrm>
            <a:off x="5071533" y="3831778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분석 방법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3A6DDF6-9AE1-8980-037F-A46947E10A30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7" name="Picture 17">
            <a:extLst>
              <a:ext uri="{FF2B5EF4-FFF2-40B4-BE49-F238E27FC236}">
                <a16:creationId xmlns:a16="http://schemas.microsoft.com/office/drawing/2014/main" id="{F44C2BD0-B313-9228-34B4-8A74FD315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134" y="4418373"/>
            <a:ext cx="2353733" cy="704424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E3C4F2B7-559B-CCB2-336C-C5DA8A8CE710}"/>
              </a:ext>
            </a:extLst>
          </p:cNvPr>
          <p:cNvSpPr txBox="1"/>
          <p:nvPr/>
        </p:nvSpPr>
        <p:spPr>
          <a:xfrm>
            <a:off x="5071533" y="4559912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사용 모델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968A031-7916-881A-D828-E699316AF39C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0" name="Picture 20">
            <a:extLst>
              <a:ext uri="{FF2B5EF4-FFF2-40B4-BE49-F238E27FC236}">
                <a16:creationId xmlns:a16="http://schemas.microsoft.com/office/drawing/2014/main" id="{69A90D8F-3891-F2AA-0402-432157B29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134" y="5154973"/>
            <a:ext cx="2353733" cy="704424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AEA7C876-0FD4-FAFF-0182-B5BD06D1416F}"/>
              </a:ext>
            </a:extLst>
          </p:cNvPr>
          <p:cNvSpPr txBox="1"/>
          <p:nvPr/>
        </p:nvSpPr>
        <p:spPr>
          <a:xfrm>
            <a:off x="5071533" y="5296512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경제 변동이 클 때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D10C343-72B6-A255-F4C9-FECD13E8815A}"/>
              </a:ext>
            </a:extLst>
          </p:cNvPr>
          <p:cNvSpPr txBox="1"/>
          <p:nvPr/>
        </p:nvSpPr>
        <p:spPr>
          <a:xfrm>
            <a:off x="896112" y="2926207"/>
            <a:ext cx="3670425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미국 중심의 </a:t>
            </a:r>
            <a:r>
              <a:rPr lang="en-US" sz="1400" dirty="0">
                <a:solidFill>
                  <a:srgbClr val="323232"/>
                </a:solidFill>
                <a:latin typeface="+mn-ea"/>
              </a:rPr>
              <a:t>2012~2024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년의 데이터</a:t>
            </a: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: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글로벌 변수를 포함한 종합적인 분석 불가능</a:t>
            </a:r>
            <a:endParaRPr lang="en-US" sz="1400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68FB399-FDBA-D1AD-B96B-E92A61F0AB90}"/>
              </a:ext>
            </a:extLst>
          </p:cNvPr>
          <p:cNvSpPr txBox="1"/>
          <p:nvPr/>
        </p:nvSpPr>
        <p:spPr>
          <a:xfrm>
            <a:off x="912936" y="3808341"/>
            <a:ext cx="3439608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buNone/>
            </a:pPr>
            <a:r>
              <a:rPr lang="ko-KR" altLang="en-US" sz="1400" b="1" dirty="0">
                <a:latin typeface="+mn-ea"/>
              </a:rPr>
              <a:t>히스토그램 기반 </a:t>
            </a:r>
            <a:r>
              <a:rPr lang="en-US" altLang="ko-KR" sz="1400" b="1" dirty="0">
                <a:latin typeface="+mn-ea"/>
              </a:rPr>
              <a:t>TE</a:t>
            </a:r>
          </a:p>
          <a:p>
            <a:pPr>
              <a:buNone/>
            </a:pP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이산형 데이터 분석에 적합하며</a:t>
            </a:r>
            <a:r>
              <a:rPr lang="en-US" altLang="ko-KR" sz="1400" dirty="0">
                <a:latin typeface="+mn-ea"/>
              </a:rPr>
              <a:t>,</a:t>
            </a:r>
          </a:p>
          <a:p>
            <a:r>
              <a:rPr lang="ko-KR" altLang="en-US" sz="1400" dirty="0">
                <a:latin typeface="+mn-ea"/>
              </a:rPr>
              <a:t>연속형 데이터에 적용시 </a:t>
            </a:r>
            <a:r>
              <a:rPr lang="ko-KR" altLang="en-US" sz="1400" b="1" dirty="0">
                <a:latin typeface="+mn-ea"/>
              </a:rPr>
              <a:t>정보 손실 가능성</a:t>
            </a:r>
          </a:p>
          <a:p>
            <a:pPr>
              <a:buNone/>
            </a:pPr>
            <a:r>
              <a:rPr lang="en-US" altLang="ko-KR" sz="1400" dirty="0">
                <a:latin typeface="+mn-ea"/>
              </a:rPr>
              <a:t> 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D2495A9-6BFD-6B08-18ED-418090AC8529}"/>
              </a:ext>
            </a:extLst>
          </p:cNvPr>
          <p:cNvSpPr txBox="1"/>
          <p:nvPr/>
        </p:nvSpPr>
        <p:spPr>
          <a:xfrm>
            <a:off x="903067" y="4477294"/>
            <a:ext cx="3575026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GARCH </a:t>
            </a:r>
            <a:r>
              <a:rPr lang="ko-KR" altLang="en-US" sz="1400" b="1" dirty="0">
                <a:latin typeface="+mn-ea"/>
              </a:rPr>
              <a:t>모형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긍정적 효과와 부정적 효과를 대칭적으로 받아들여 레버리지 효과를 반영하지 못한다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6FE6F90-08C9-3619-75F2-65688CD29BEE}"/>
              </a:ext>
            </a:extLst>
          </p:cNvPr>
          <p:cNvSpPr txBox="1"/>
          <p:nvPr/>
        </p:nvSpPr>
        <p:spPr>
          <a:xfrm>
            <a:off x="903067" y="5319453"/>
            <a:ext cx="3910971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국내 정책 불확실성 변수로 경제 변동을 판단</a:t>
            </a: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하긴 했으나</a:t>
            </a: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시간에 따른 한국은행 금리 결정의 자율성 검토에 그침</a:t>
            </a: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.</a:t>
            </a:r>
          </a:p>
          <a:p>
            <a:pPr lvl="0" algn="r">
              <a:lnSpc>
                <a:spcPct val="116199"/>
              </a:lnSpc>
            </a:pPr>
            <a:endParaRPr lang="ko-KR" altLang="en-US" sz="1400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0B3A0C-6819-9612-011E-C3F3E846415A}"/>
              </a:ext>
            </a:extLst>
          </p:cNvPr>
          <p:cNvSpPr txBox="1"/>
          <p:nvPr/>
        </p:nvSpPr>
        <p:spPr>
          <a:xfrm>
            <a:off x="7402451" y="3180393"/>
            <a:ext cx="4139962" cy="34294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latin typeface="+mn-ea"/>
              </a:rPr>
              <a:t>2000~2024</a:t>
            </a:r>
            <a:r>
              <a:rPr lang="ko-KR" altLang="en-US" sz="1400" dirty="0">
                <a:latin typeface="+mn-ea"/>
              </a:rPr>
              <a:t>년 데이터</a:t>
            </a:r>
            <a:endParaRPr lang="en-US" altLang="ko-KR" sz="1400" dirty="0"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b="1" dirty="0">
                <a:latin typeface="+mn-ea"/>
              </a:rPr>
              <a:t>주요 국가 금리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글로벌 지표 추가</a:t>
            </a:r>
            <a:r>
              <a:rPr lang="en-US" altLang="ko-KR" sz="1400" b="1" dirty="0">
                <a:latin typeface="+mn-ea"/>
              </a:rPr>
              <a:t> (</a:t>
            </a:r>
            <a:r>
              <a:rPr lang="ko-KR" altLang="en-US" sz="1400" dirty="0">
                <a:latin typeface="+mn-ea"/>
              </a:rPr>
              <a:t>미국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유럽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일본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영국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금리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국제유가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달러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엔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위안 환율</a:t>
            </a:r>
            <a:r>
              <a:rPr lang="en-US" altLang="ko-KR" sz="1400" dirty="0">
                <a:latin typeface="+mn-ea"/>
              </a:rPr>
              <a:t>)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86DA3CC-B61D-83A7-996A-F822B064FE4C}"/>
              </a:ext>
            </a:extLst>
          </p:cNvPr>
          <p:cNvSpPr txBox="1"/>
          <p:nvPr/>
        </p:nvSpPr>
        <p:spPr>
          <a:xfrm>
            <a:off x="7396199" y="3852680"/>
            <a:ext cx="43704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KSG </a:t>
            </a:r>
            <a:r>
              <a:rPr lang="ko-KR" altLang="en-US" sz="1400" b="1" dirty="0">
                <a:latin typeface="+mn-ea"/>
              </a:rPr>
              <a:t>추정 기반 방식 사용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dirty="0" err="1">
                <a:latin typeface="+mn-ea"/>
              </a:rPr>
              <a:t>커널</a:t>
            </a:r>
            <a:r>
              <a:rPr lang="ko-KR" altLang="en-US" sz="1400" dirty="0">
                <a:latin typeface="+mn-ea"/>
              </a:rPr>
              <a:t> 밀도 추정 기반으로 연속형 데이터에 적합하며</a:t>
            </a:r>
            <a:r>
              <a:rPr lang="en-US" altLang="ko-KR" sz="1400" dirty="0">
                <a:latin typeface="+mn-ea"/>
              </a:rPr>
              <a:t>,</a:t>
            </a:r>
          </a:p>
          <a:p>
            <a:r>
              <a:rPr lang="ko-KR" altLang="en-US" sz="1400" dirty="0">
                <a:latin typeface="+mn-ea"/>
              </a:rPr>
              <a:t>정보 흐름의 비선형성을 보다 정교하게 측정</a:t>
            </a:r>
            <a:endParaRPr lang="en-US" altLang="ko-KR" sz="1400" dirty="0">
              <a:latin typeface="+mn-ea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AE7295F-24C2-4BE5-03EA-041CC567AC50}"/>
              </a:ext>
            </a:extLst>
          </p:cNvPr>
          <p:cNvSpPr txBox="1"/>
          <p:nvPr/>
        </p:nvSpPr>
        <p:spPr>
          <a:xfrm>
            <a:off x="7396199" y="4559912"/>
            <a:ext cx="43177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EGARCH </a:t>
            </a:r>
            <a:r>
              <a:rPr lang="ko-KR" altLang="en-US" sz="1400" b="1" dirty="0">
                <a:latin typeface="+mn-ea"/>
              </a:rPr>
              <a:t>모델을 이용한 분석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글로벌 충격과 같은 부정적인 효과로 인한 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 err="1">
                <a:latin typeface="+mn-ea"/>
              </a:rPr>
              <a:t>비대칭성을</a:t>
            </a:r>
            <a:r>
              <a:rPr lang="ko-KR" altLang="en-US" sz="1400" dirty="0">
                <a:latin typeface="+mn-ea"/>
              </a:rPr>
              <a:t> 설명하기 위함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b="1" dirty="0">
                <a:latin typeface="+mn-ea"/>
              </a:rPr>
              <a:t> 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5866B51-8ACF-62A3-E2D6-69A815E54538}"/>
              </a:ext>
            </a:extLst>
          </p:cNvPr>
          <p:cNvSpPr txBox="1"/>
          <p:nvPr/>
        </p:nvSpPr>
        <p:spPr>
          <a:xfrm>
            <a:off x="7408671" y="5373175"/>
            <a:ext cx="43704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400" b="1" dirty="0">
                <a:latin typeface="+mn-ea"/>
              </a:rPr>
              <a:t>VIX </a:t>
            </a:r>
            <a:r>
              <a:rPr lang="ko-KR" altLang="en-US" sz="1400" b="1" dirty="0">
                <a:latin typeface="+mn-ea"/>
              </a:rPr>
              <a:t>지수 이용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16199"/>
              </a:lnSpc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VIX 급등 시 일시적으로 글로벌 정책금리와 동조화 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>
              <a:lnSpc>
                <a:spcPct val="116199"/>
              </a:lnSpc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→ </a:t>
            </a:r>
            <a:r>
              <a:rPr kumimoji="0" lang="ko-KR" altLang="ko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자율성과 동조성의 동시 존재</a:t>
            </a:r>
            <a:r>
              <a:rPr kumimoji="0" lang="ko-KR" altLang="en-US" sz="140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+mn-ea"/>
              </a:rPr>
              <a:t> 확인 가능</a:t>
            </a:r>
            <a:endParaRPr kumimoji="0" lang="ko-KR" altLang="ko-KR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7510782-167D-7D91-C60D-690E7C32D48D}"/>
              </a:ext>
            </a:extLst>
          </p:cNvPr>
          <p:cNvSpPr txBox="1"/>
          <p:nvPr/>
        </p:nvSpPr>
        <p:spPr>
          <a:xfrm>
            <a:off x="7408332" y="2393993"/>
            <a:ext cx="3581400" cy="356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867" b="1" u="sng" dirty="0">
                <a:solidFill>
                  <a:srgbClr val="323232"/>
                </a:solidFill>
                <a:latin typeface="+mn-ea"/>
              </a:rPr>
              <a:t>나의 연구</a:t>
            </a:r>
            <a:endParaRPr lang="en-US" sz="1867" b="1" u="sng" dirty="0">
              <a:solidFill>
                <a:srgbClr val="32323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370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F71C-DE24-A376-6B3C-DBA73381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972012-7AD5-AD57-8A9A-5889052155AA}"/>
              </a:ext>
            </a:extLst>
          </p:cNvPr>
          <p:cNvSpPr txBox="1"/>
          <p:nvPr/>
        </p:nvSpPr>
        <p:spPr>
          <a:xfrm>
            <a:off x="897467" y="872067"/>
            <a:ext cx="29718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334" b="1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연구 주제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F4B7C7-BF76-C309-4B0C-F1D4501A8FEF}"/>
              </a:ext>
            </a:extLst>
          </p:cNvPr>
          <p:cNvSpPr txBox="1"/>
          <p:nvPr/>
        </p:nvSpPr>
        <p:spPr>
          <a:xfrm>
            <a:off x="11573933" y="245534"/>
            <a:ext cx="364067" cy="1947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067" dirty="0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626489E-0411-FCB7-817B-11794A69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667" y="2113005"/>
            <a:ext cx="4766733" cy="416079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C5DCC18-C503-F7EE-CAA7-8AC85602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13005"/>
            <a:ext cx="4766733" cy="4160795"/>
          </a:xfrm>
          <a:prstGeom prst="rect">
            <a:avLst/>
          </a:prstGeom>
        </p:spPr>
      </p:pic>
      <p:grpSp>
        <p:nvGrpSpPr>
          <p:cNvPr id="10" name="Group 10">
            <a:extLst>
              <a:ext uri="{FF2B5EF4-FFF2-40B4-BE49-F238E27FC236}">
                <a16:creationId xmlns:a16="http://schemas.microsoft.com/office/drawing/2014/main" id="{45494532-34B7-5C28-618E-7080508D25F1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1" name="Picture 11">
            <a:extLst>
              <a:ext uri="{FF2B5EF4-FFF2-40B4-BE49-F238E27FC236}">
                <a16:creationId xmlns:a16="http://schemas.microsoft.com/office/drawing/2014/main" id="{9C7E0173-BCE9-B687-7C5B-02F22C42E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134" y="2953639"/>
            <a:ext cx="2353733" cy="704424"/>
          </a:xfrm>
          <a:prstGeom prst="rect">
            <a:avLst/>
          </a:prstGeom>
        </p:spPr>
      </p:pic>
      <p:grpSp>
        <p:nvGrpSpPr>
          <p:cNvPr id="13" name="Group 13">
            <a:extLst>
              <a:ext uri="{FF2B5EF4-FFF2-40B4-BE49-F238E27FC236}">
                <a16:creationId xmlns:a16="http://schemas.microsoft.com/office/drawing/2014/main" id="{CDE71A22-4A7F-ED83-04A3-7782C299604F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4" name="Picture 14">
            <a:extLst>
              <a:ext uri="{FF2B5EF4-FFF2-40B4-BE49-F238E27FC236}">
                <a16:creationId xmlns:a16="http://schemas.microsoft.com/office/drawing/2014/main" id="{2C2796D4-6820-6000-A910-3279A4F2D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134" y="3690239"/>
            <a:ext cx="2353733" cy="704424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E5DC2CF7-3DA2-488B-4FBD-61246BC41726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7" name="Picture 17">
            <a:extLst>
              <a:ext uri="{FF2B5EF4-FFF2-40B4-BE49-F238E27FC236}">
                <a16:creationId xmlns:a16="http://schemas.microsoft.com/office/drawing/2014/main" id="{3C8F0E4F-CE15-4F00-B289-DCFF8474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134" y="4418373"/>
            <a:ext cx="2353733" cy="704424"/>
          </a:xfrm>
          <a:prstGeom prst="rect">
            <a:avLst/>
          </a:prstGeom>
        </p:spPr>
      </p:pic>
      <p:grpSp>
        <p:nvGrpSpPr>
          <p:cNvPr id="19" name="Group 19">
            <a:extLst>
              <a:ext uri="{FF2B5EF4-FFF2-40B4-BE49-F238E27FC236}">
                <a16:creationId xmlns:a16="http://schemas.microsoft.com/office/drawing/2014/main" id="{41E12E2C-36B7-690A-AFC6-C501CF910DCF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0" name="Picture 20">
            <a:extLst>
              <a:ext uri="{FF2B5EF4-FFF2-40B4-BE49-F238E27FC236}">
                <a16:creationId xmlns:a16="http://schemas.microsoft.com/office/drawing/2014/main" id="{F3D8577E-7910-DEE1-4482-41B2E840C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134" y="5154973"/>
            <a:ext cx="2353733" cy="704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15AAE7-F4A4-B7E5-A5A0-520E29A81CFF}"/>
              </a:ext>
            </a:extLst>
          </p:cNvPr>
          <p:cNvSpPr txBox="1"/>
          <p:nvPr/>
        </p:nvSpPr>
        <p:spPr>
          <a:xfrm>
            <a:off x="4199467" y="291763"/>
            <a:ext cx="476673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상황별 금리 반응 패턴 탐지</a:t>
            </a: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기준금리 예측 모형 고도화</a:t>
            </a: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기대 금리와 실제 금리 간 괴리 분석</a:t>
            </a:r>
            <a:r>
              <a:rPr lang="en-US" altLang="ko-KR" sz="2000" b="1" dirty="0">
                <a:latin typeface="+mn-ea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다른 개방경제 국가와 비교</a:t>
            </a:r>
            <a:endParaRPr lang="en-US" altLang="ko-KR" sz="2000" b="1" dirty="0">
              <a:latin typeface="+mn-ea"/>
            </a:endParaRPr>
          </a:p>
          <a:p>
            <a:endParaRPr lang="en-US" altLang="ko-KR" b="1" dirty="0">
              <a:latin typeface="+mn-ea"/>
            </a:endParaRPr>
          </a:p>
          <a:p>
            <a:endParaRPr lang="en-US" altLang="ko-KR" b="1" dirty="0">
              <a:latin typeface="+mn-ea"/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965EF7B3-753A-A010-37A3-23DE064CF0A3}"/>
              </a:ext>
            </a:extLst>
          </p:cNvPr>
          <p:cNvSpPr txBox="1"/>
          <p:nvPr/>
        </p:nvSpPr>
        <p:spPr>
          <a:xfrm>
            <a:off x="1202266" y="2393993"/>
            <a:ext cx="3581400" cy="356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867" b="1" u="sng" dirty="0">
                <a:solidFill>
                  <a:srgbClr val="323232"/>
                </a:solidFill>
                <a:latin typeface="+mn-ea"/>
              </a:rPr>
              <a:t>기존 연구</a:t>
            </a:r>
            <a:endParaRPr lang="en-US" sz="1867" b="1" u="sng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DD10C343-72B6-A255-F4C9-FECD13E8815A}"/>
              </a:ext>
            </a:extLst>
          </p:cNvPr>
          <p:cNvSpPr txBox="1"/>
          <p:nvPr/>
        </p:nvSpPr>
        <p:spPr>
          <a:xfrm>
            <a:off x="896112" y="2926207"/>
            <a:ext cx="3670425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미국 중심의 </a:t>
            </a:r>
            <a:r>
              <a:rPr lang="en-US" sz="1400" dirty="0">
                <a:solidFill>
                  <a:srgbClr val="323232"/>
                </a:solidFill>
                <a:latin typeface="+mn-ea"/>
              </a:rPr>
              <a:t>2012~2024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년의 데이터</a:t>
            </a: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: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글로벌 변수를 포함한 종합적인 분석 불가능</a:t>
            </a:r>
            <a:endParaRPr lang="en-US" sz="1400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068FB399-FDBA-D1AD-B96B-E92A61F0AB90}"/>
              </a:ext>
            </a:extLst>
          </p:cNvPr>
          <p:cNvSpPr txBox="1"/>
          <p:nvPr/>
        </p:nvSpPr>
        <p:spPr>
          <a:xfrm>
            <a:off x="912936" y="3808341"/>
            <a:ext cx="3439608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buNone/>
            </a:pPr>
            <a:r>
              <a:rPr lang="ko-KR" altLang="en-US" sz="1400" b="1" dirty="0">
                <a:latin typeface="+mn-ea"/>
              </a:rPr>
              <a:t>히스토그램 기반 </a:t>
            </a:r>
            <a:r>
              <a:rPr lang="en-US" altLang="ko-KR" sz="1400" b="1" dirty="0">
                <a:latin typeface="+mn-ea"/>
              </a:rPr>
              <a:t>TE</a:t>
            </a:r>
          </a:p>
          <a:p>
            <a:pPr>
              <a:buNone/>
            </a:pP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이산형 데이터 분석에 적합하며</a:t>
            </a:r>
            <a:r>
              <a:rPr lang="en-US" altLang="ko-KR" sz="1400" dirty="0">
                <a:latin typeface="+mn-ea"/>
              </a:rPr>
              <a:t>,</a:t>
            </a:r>
          </a:p>
          <a:p>
            <a:r>
              <a:rPr lang="ko-KR" altLang="en-US" sz="1400" dirty="0">
                <a:latin typeface="+mn-ea"/>
              </a:rPr>
              <a:t>연속형 데이터에 적용시 </a:t>
            </a:r>
            <a:r>
              <a:rPr lang="ko-KR" altLang="en-US" sz="1400" b="1" dirty="0">
                <a:latin typeface="+mn-ea"/>
              </a:rPr>
              <a:t>정보 손실 가능성</a:t>
            </a:r>
          </a:p>
          <a:p>
            <a:pPr>
              <a:buNone/>
            </a:pPr>
            <a:r>
              <a:rPr lang="en-US" altLang="ko-KR" sz="1400" dirty="0">
                <a:latin typeface="+mn-ea"/>
              </a:rPr>
              <a:t> 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5D2495A9-6BFD-6B08-18ED-418090AC8529}"/>
              </a:ext>
            </a:extLst>
          </p:cNvPr>
          <p:cNvSpPr txBox="1"/>
          <p:nvPr/>
        </p:nvSpPr>
        <p:spPr>
          <a:xfrm>
            <a:off x="903067" y="4477294"/>
            <a:ext cx="3575026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GARCH </a:t>
            </a:r>
            <a:r>
              <a:rPr lang="ko-KR" altLang="en-US" sz="1400" b="1" dirty="0">
                <a:latin typeface="+mn-ea"/>
              </a:rPr>
              <a:t>모형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긍정적 효과와 부정적 효과를 대칭적으로 받아들여 레버리지 효과를 반영하지 못한다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B6FE6F90-08C9-3619-75F2-65688CD29BEE}"/>
              </a:ext>
            </a:extLst>
          </p:cNvPr>
          <p:cNvSpPr txBox="1"/>
          <p:nvPr/>
        </p:nvSpPr>
        <p:spPr>
          <a:xfrm>
            <a:off x="903067" y="5319453"/>
            <a:ext cx="3910971" cy="597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국내 정책 불확실성 변수로 경제 변동을 판단</a:t>
            </a:r>
            <a:endParaRPr lang="en-US" altLang="ko-KR" sz="1400" dirty="0">
              <a:solidFill>
                <a:srgbClr val="323232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하긴 했으나</a:t>
            </a: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323232"/>
                </a:solidFill>
                <a:latin typeface="+mn-ea"/>
              </a:rPr>
              <a:t>시간에 따른 한국은행 금리 결정의 자율성 검토에 그침</a:t>
            </a:r>
            <a:r>
              <a:rPr lang="en-US" altLang="ko-KR" sz="1400" dirty="0">
                <a:solidFill>
                  <a:srgbClr val="323232"/>
                </a:solidFill>
                <a:latin typeface="+mn-ea"/>
              </a:rPr>
              <a:t>.</a:t>
            </a:r>
          </a:p>
          <a:p>
            <a:pPr lvl="0" algn="r">
              <a:lnSpc>
                <a:spcPct val="116199"/>
              </a:lnSpc>
            </a:pPr>
            <a:endParaRPr lang="ko-KR" altLang="en-US" sz="1400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F00B3A0C-6819-9612-011E-C3F3E846415A}"/>
              </a:ext>
            </a:extLst>
          </p:cNvPr>
          <p:cNvSpPr txBox="1"/>
          <p:nvPr/>
        </p:nvSpPr>
        <p:spPr>
          <a:xfrm>
            <a:off x="7402451" y="3180393"/>
            <a:ext cx="4139962" cy="34294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latin typeface="+mn-ea"/>
              </a:rPr>
              <a:t>2000~2024</a:t>
            </a:r>
            <a:r>
              <a:rPr lang="ko-KR" altLang="en-US" sz="1400" dirty="0">
                <a:latin typeface="+mn-ea"/>
              </a:rPr>
              <a:t>년 데이터</a:t>
            </a:r>
            <a:endParaRPr lang="en-US" altLang="ko-KR" sz="1400" dirty="0"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1400" b="1" dirty="0">
                <a:latin typeface="+mn-ea"/>
              </a:rPr>
              <a:t>주요 국가 금리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b="1" dirty="0">
                <a:latin typeface="+mn-ea"/>
              </a:rPr>
              <a:t>글로벌 지표 추가</a:t>
            </a:r>
            <a:r>
              <a:rPr lang="en-US" altLang="ko-KR" sz="1400" b="1" dirty="0">
                <a:latin typeface="+mn-ea"/>
              </a:rPr>
              <a:t> (</a:t>
            </a:r>
            <a:r>
              <a:rPr lang="ko-KR" altLang="en-US" sz="1400" dirty="0">
                <a:latin typeface="+mn-ea"/>
              </a:rPr>
              <a:t>미국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유럽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일본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영국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금리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국제유가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달러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엔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원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위안 환율</a:t>
            </a:r>
            <a:r>
              <a:rPr lang="en-US" altLang="ko-KR" sz="1400" dirty="0">
                <a:latin typeface="+mn-ea"/>
              </a:rPr>
              <a:t>)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E86DA3CC-B61D-83A7-996A-F822B064FE4C}"/>
              </a:ext>
            </a:extLst>
          </p:cNvPr>
          <p:cNvSpPr txBox="1"/>
          <p:nvPr/>
        </p:nvSpPr>
        <p:spPr>
          <a:xfrm>
            <a:off x="7396199" y="3852680"/>
            <a:ext cx="43704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KSG </a:t>
            </a:r>
            <a:r>
              <a:rPr lang="ko-KR" altLang="en-US" sz="1400" b="1" dirty="0">
                <a:latin typeface="+mn-ea"/>
              </a:rPr>
              <a:t>추정 기반 방식 사용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dirty="0" err="1">
                <a:latin typeface="+mn-ea"/>
              </a:rPr>
              <a:t>커널</a:t>
            </a:r>
            <a:r>
              <a:rPr lang="ko-KR" altLang="en-US" sz="1400" dirty="0">
                <a:latin typeface="+mn-ea"/>
              </a:rPr>
              <a:t> 밀도 추정 기반으로 연속형 데이터에 적합하며</a:t>
            </a:r>
            <a:r>
              <a:rPr lang="en-US" altLang="ko-KR" sz="1400" dirty="0">
                <a:latin typeface="+mn-ea"/>
              </a:rPr>
              <a:t>,</a:t>
            </a:r>
          </a:p>
          <a:p>
            <a:r>
              <a:rPr lang="ko-KR" altLang="en-US" sz="1400" dirty="0">
                <a:latin typeface="+mn-ea"/>
              </a:rPr>
              <a:t>정보 흐름의 비선형성을 보다 정교하게 측정</a:t>
            </a:r>
            <a:endParaRPr lang="en-US" altLang="ko-KR" sz="1400" dirty="0">
              <a:latin typeface="+mn-ea"/>
            </a:endParaRP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6AE7295F-24C2-4BE5-03EA-041CC567AC50}"/>
              </a:ext>
            </a:extLst>
          </p:cNvPr>
          <p:cNvSpPr txBox="1"/>
          <p:nvPr/>
        </p:nvSpPr>
        <p:spPr>
          <a:xfrm>
            <a:off x="7396199" y="4559912"/>
            <a:ext cx="43177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altLang="ko-KR" sz="1400" b="1" dirty="0">
                <a:latin typeface="+mn-ea"/>
              </a:rPr>
              <a:t>EGARCH </a:t>
            </a:r>
            <a:r>
              <a:rPr lang="ko-KR" altLang="en-US" sz="1400" b="1" dirty="0">
                <a:latin typeface="+mn-ea"/>
              </a:rPr>
              <a:t>모델을 이용한 분석</a:t>
            </a:r>
            <a:endParaRPr lang="en-US" altLang="ko-KR" sz="1400" b="1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글로벌 충격과 같은 부정적인 효과로 인한 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 err="1">
                <a:latin typeface="+mn-ea"/>
              </a:rPr>
              <a:t>비대칭성을</a:t>
            </a:r>
            <a:r>
              <a:rPr lang="ko-KR" altLang="en-US" sz="1400" dirty="0">
                <a:latin typeface="+mn-ea"/>
              </a:rPr>
              <a:t> 설명하기 위함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b="1" dirty="0">
                <a:latin typeface="+mn-ea"/>
              </a:rPr>
              <a:t> 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9" name="TextBox 29">
            <a:extLst>
              <a:ext uri="{FF2B5EF4-FFF2-40B4-BE49-F238E27FC236}">
                <a16:creationId xmlns:a16="http://schemas.microsoft.com/office/drawing/2014/main" id="{F5866B51-8ACF-62A3-E2D6-69A815E54538}"/>
              </a:ext>
            </a:extLst>
          </p:cNvPr>
          <p:cNvSpPr txBox="1"/>
          <p:nvPr/>
        </p:nvSpPr>
        <p:spPr>
          <a:xfrm>
            <a:off x="7408671" y="5373175"/>
            <a:ext cx="4370494" cy="4790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1400" b="1" dirty="0">
                <a:latin typeface="+mn-ea"/>
              </a:rPr>
              <a:t>VIX </a:t>
            </a:r>
            <a:r>
              <a:rPr lang="ko-KR" altLang="en-US" sz="1400" b="1" dirty="0">
                <a:latin typeface="+mn-ea"/>
              </a:rPr>
              <a:t>지수 이용</a:t>
            </a:r>
            <a:endParaRPr lang="en-US" altLang="ko-KR" sz="1400" b="1" dirty="0">
              <a:latin typeface="+mn-ea"/>
            </a:endParaRPr>
          </a:p>
          <a:p>
            <a:pPr>
              <a:lnSpc>
                <a:spcPct val="116199"/>
              </a:lnSpc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VIX 급등 시 일시적으로 글로벌 정책금리와 동조화 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>
              <a:lnSpc>
                <a:spcPct val="116199"/>
              </a:lnSpc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→ </a:t>
            </a:r>
            <a:r>
              <a:rPr kumimoji="0" lang="ko-KR" altLang="ko-KR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자율성과 동조성의 동시 존재</a:t>
            </a:r>
            <a:r>
              <a:rPr kumimoji="0" lang="ko-KR" altLang="en-US" sz="1400" u="none" strike="noStrike" cap="none" normalizeH="0" baseline="0" dirty="0">
                <a:ln>
                  <a:noFill/>
                </a:ln>
                <a:solidFill>
                  <a:srgbClr val="323232"/>
                </a:solidFill>
                <a:effectLst/>
                <a:latin typeface="+mn-ea"/>
              </a:rPr>
              <a:t> 확인 가능</a:t>
            </a:r>
            <a:endParaRPr kumimoji="0" lang="ko-KR" altLang="ko-KR" sz="1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97510782-167D-7D91-C60D-690E7C32D48D}"/>
              </a:ext>
            </a:extLst>
          </p:cNvPr>
          <p:cNvSpPr txBox="1"/>
          <p:nvPr/>
        </p:nvSpPr>
        <p:spPr>
          <a:xfrm>
            <a:off x="7408332" y="2393993"/>
            <a:ext cx="3581400" cy="356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867" b="1" u="sng" dirty="0">
                <a:solidFill>
                  <a:srgbClr val="323232"/>
                </a:solidFill>
                <a:latin typeface="+mn-ea"/>
              </a:rPr>
              <a:t>나의 연구</a:t>
            </a:r>
            <a:endParaRPr lang="en-US" sz="1867" b="1" u="sng" dirty="0">
              <a:solidFill>
                <a:srgbClr val="323232"/>
              </a:solidFill>
              <a:latin typeface="+mn-ea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8E77F7C3-8EBB-F4BB-F320-351BA9468CB5}"/>
              </a:ext>
            </a:extLst>
          </p:cNvPr>
          <p:cNvSpPr txBox="1"/>
          <p:nvPr/>
        </p:nvSpPr>
        <p:spPr>
          <a:xfrm>
            <a:off x="5071533" y="3095178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변수 추가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AD2FC498-91D1-4744-EE34-4C9711C38309}"/>
              </a:ext>
            </a:extLst>
          </p:cNvPr>
          <p:cNvSpPr txBox="1"/>
          <p:nvPr/>
        </p:nvSpPr>
        <p:spPr>
          <a:xfrm>
            <a:off x="5071533" y="3831778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분석 방법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E3C4F2B7-559B-CCB2-336C-C5DA8A8CE710}"/>
              </a:ext>
            </a:extLst>
          </p:cNvPr>
          <p:cNvSpPr txBox="1"/>
          <p:nvPr/>
        </p:nvSpPr>
        <p:spPr>
          <a:xfrm>
            <a:off x="5071533" y="4559912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사용 모델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AEA7C876-0FD4-FAFF-0182-B5BD06D1416F}"/>
              </a:ext>
            </a:extLst>
          </p:cNvPr>
          <p:cNvSpPr txBox="1"/>
          <p:nvPr/>
        </p:nvSpPr>
        <p:spPr>
          <a:xfrm>
            <a:off x="5071533" y="5296512"/>
            <a:ext cx="2057400" cy="3850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1" dirty="0">
                <a:solidFill>
                  <a:srgbClr val="002060"/>
                </a:solidFill>
                <a:latin typeface="+mn-ea"/>
              </a:rPr>
              <a:t>경제 변동이 클 때</a:t>
            </a:r>
            <a:r>
              <a:rPr lang="en-US" altLang="ko-KR" sz="2000" b="1" dirty="0">
                <a:solidFill>
                  <a:srgbClr val="002060"/>
                </a:solidFill>
                <a:latin typeface="+mn-ea"/>
              </a:rPr>
              <a:t>?</a:t>
            </a:r>
            <a:endParaRPr 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" name="아래쪽 화살표 3"/>
          <p:cNvSpPr/>
          <p:nvPr/>
        </p:nvSpPr>
        <p:spPr>
          <a:xfrm rot="8683846">
            <a:off x="8136893" y="1634766"/>
            <a:ext cx="539496" cy="8087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115399" y="235543"/>
            <a:ext cx="4660900" cy="1408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4387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050132-B550-75B6-FE03-95EF7EC2F5BA}"/>
              </a:ext>
            </a:extLst>
          </p:cNvPr>
          <p:cNvSpPr txBox="1"/>
          <p:nvPr/>
        </p:nvSpPr>
        <p:spPr>
          <a:xfrm>
            <a:off x="4012682" y="2857160"/>
            <a:ext cx="491644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95449"/>
              </a:lnSpc>
            </a:pPr>
            <a:r>
              <a:rPr lang="ko-KR" altLang="en-US" sz="6000" b="1" i="0" u="none" strike="noStrike" dirty="0">
                <a:solidFill>
                  <a:srgbClr val="323232"/>
                </a:solidFill>
                <a:latin typeface="+mn-ea"/>
              </a:rPr>
              <a:t>감사합니다</a:t>
            </a:r>
            <a:r>
              <a:rPr lang="en-US" altLang="ko-KR" sz="5400" b="1" i="0" u="none" strike="noStrike" dirty="0">
                <a:solidFill>
                  <a:srgbClr val="323232"/>
                </a:solidFill>
                <a:latin typeface="+mn-ea"/>
              </a:rPr>
              <a:t>.</a:t>
            </a:r>
            <a:endParaRPr lang="ko-KR" altLang="ko-KR" sz="5400" b="1" i="0" u="none" strike="noStrike" dirty="0">
              <a:solidFill>
                <a:srgbClr val="323232"/>
              </a:solidFill>
              <a:latin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03" y="1543364"/>
            <a:ext cx="8751794" cy="112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03" y="5129246"/>
            <a:ext cx="8751794" cy="1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3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753</Words>
  <Application>Microsoft Office PowerPoint</Application>
  <PresentationFormat>와이드스크린</PresentationFormat>
  <Paragraphs>129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fkGroteskNeue</vt:lpstr>
      <vt:lpstr>Noto Sans KR</vt:lpstr>
      <vt:lpstr>Pretendard Bold</vt:lpstr>
      <vt:lpstr>Pretendard Medium</vt:lpstr>
      <vt:lpstr>Pretendard Regular</vt:lpstr>
      <vt:lpstr>Pretendard SemiBold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동빈 김</dc:creator>
  <cp:lastModifiedBy>동빈 김</cp:lastModifiedBy>
  <cp:revision>9</cp:revision>
  <dcterms:created xsi:type="dcterms:W3CDTF">2025-08-08T00:23:20Z</dcterms:created>
  <dcterms:modified xsi:type="dcterms:W3CDTF">2026-02-26T14:18:20Z</dcterms:modified>
</cp:coreProperties>
</file>